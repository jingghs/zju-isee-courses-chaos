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0DEA4-4020-30A4-3B1D-DDCB0C9DD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4086B2-B82F-F884-23F0-C0814AEFF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706C85-CD1D-12AB-B836-1A692901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43B955-5800-CF83-5AF4-3CB3983A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B1BE29-C974-00BD-20A9-13603EDC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27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DF1AE-E3A4-74DB-D1B0-32CE4E61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68DB11-0C15-6D48-3EF3-2646C76E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DD9D4E-A99A-2E2D-09DD-94DAE719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394CF5-FA9F-39E3-A937-051D2EFBB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3B8308-1019-21D5-79A8-5B1B0612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986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1E026-F2EE-3619-2B58-DE0C0EC4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A77985-7860-D41A-BA7B-1F0608A17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D5283F-CC5B-9A03-DE96-924BE788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79EF56-A324-31CD-5C26-3E86DC254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E50652-C1AE-9205-96FB-97A4D852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F6BB1-9ED3-6F0C-92E0-0AE7F11C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A12AC-CFC9-BD70-7BB3-BE2147F6C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D03653-0DFE-05BD-7C74-9530A66EE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A6C35B-8A13-B576-034C-EDDB7EAD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F602E3-D84B-52C8-EC34-3C7ED108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110E1C-26B3-36D3-8483-452F0CFB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2D3EB-AA5F-D788-D526-72AB7128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9F776B-F1A5-B680-7445-B44E07FB5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909A85-8659-0BE4-90A3-DBDE94742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8E9DFD-42B3-81BA-F3F2-84F0C93AE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B5DDDE-C6E6-61D2-93C3-440BD932C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71945B-4174-2CC4-4DC2-086C9AF51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F5CDDB-91D4-7D2F-CCF6-6C47F092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BC2518-C4EA-C94F-53F4-A106611D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42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8AECD-A077-005E-F37A-295D3633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DE1B33-489E-A43C-A3CE-DF953B686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7F61A0-63AD-B970-DCAA-26609408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73C363-A656-53C0-5224-D5EA5C15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31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9F0EA1-1C70-184E-8CA2-F734F2CE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8F80DE-E323-00FB-D0C6-AB1C5D81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D3DF11-DC87-B6C2-2283-74CB6078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167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EEC49-1CAB-E475-7F7E-1E9DC15B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11BDE-0186-A25D-DAC2-ED84F7F6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5765B1-0B85-11C8-6557-13D44F848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D09D4B-BB9C-A219-10B1-12F97C11C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19159F-5A47-263A-2878-DF815B1DD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7B1575-7C47-301A-FAAD-1FDCB4C8B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035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C09AE-79CE-E4F0-70C9-54D11AF6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D291AD-2C16-D134-DC2F-8DF3116F27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E86409-B965-121B-073C-96B84C3F1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B7639E-28B8-BF61-D518-B203F346B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50E9D8-3E49-7BA5-A0A1-3A16B531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E8A769-3FE5-4AF8-59DE-FAA3F572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7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BC949-87A0-445B-D3FB-3110F5BB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FA5228-09C8-E1FB-B24A-37AD33FE9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F1F7A5-01A5-7720-9762-302B4C13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2D014F-AFBF-DB58-3124-E2A3C7C3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4D5A0-2278-AD5D-3E04-65AF9E90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996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29B9A3-4D4D-04F2-D1DF-3EB8A56DA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666BA6-15A4-A235-A4DC-E5438D2D1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A86FFC-99CD-16B3-04B5-669EE05A0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289E9C-CB7A-EE10-9486-12E187B4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C176CF-A10B-766C-F395-882E1A8C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67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1A35A8-78BA-8156-CF42-85ECF41C6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3E6F37-FF77-B118-EC0D-0ED11507E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965F50-8EBB-46F1-11C3-34FB38185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0B858-66AC-4181-905B-5CF807FC9FD0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AA99E2-D86B-F19E-1CC7-14F789423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1A259-4715-81FE-8A9A-096D51C53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B40AB-2453-4EBB-B85E-14C5E4ABB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37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hyperlink" Target="https://zhuanlan.zhihu.com/p/65750993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序号（2） 提交时间（2025/10/31 15:53:26） ">
            <a:extLst>
              <a:ext uri="{FF2B5EF4-FFF2-40B4-BE49-F238E27FC236}">
                <a16:creationId xmlns:a16="http://schemas.microsoft.com/office/drawing/2014/main" id="{062DAAF8-44F1-38AE-2640-670C32D0B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98" y="924047"/>
            <a:ext cx="7329306" cy="500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08150E-0D0C-F29F-2596-A591F850C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699" y="1772063"/>
            <a:ext cx="2173938" cy="23666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138855-48D2-4F39-406B-C0A741CD2D6F}"/>
              </a:ext>
            </a:extLst>
          </p:cNvPr>
          <p:cNvSpPr txBox="1"/>
          <p:nvPr/>
        </p:nvSpPr>
        <p:spPr>
          <a:xfrm>
            <a:off x="8961120" y="1402731"/>
            <a:ext cx="2889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什么是共源共栅？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F8D246-8C9B-7912-042A-E212850E0CA4}"/>
              </a:ext>
            </a:extLst>
          </p:cNvPr>
          <p:cNvSpPr txBox="1"/>
          <p:nvPr/>
        </p:nvSpPr>
        <p:spPr>
          <a:xfrm>
            <a:off x="8112557" y="4039903"/>
            <a:ext cx="3738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下面的管（共源）用来产生增益</a:t>
            </a:r>
            <a:endParaRPr lang="en-US" altLang="zh-CN" b="1" dirty="0"/>
          </a:p>
          <a:p>
            <a:r>
              <a:rPr lang="zh-CN" altLang="en-US" b="1" dirty="0"/>
              <a:t>上面的管（共栅）提供高输出电阻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4463C37-ABC3-F3CC-A87A-6017F46E9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036" y="4679731"/>
            <a:ext cx="1978768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2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A36A-8458-45D8-9E0E-463CC989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E85531-C042-BA5B-71B9-7970B9A750CA}"/>
              </a:ext>
            </a:extLst>
          </p:cNvPr>
          <p:cNvSpPr txBox="1"/>
          <p:nvPr/>
        </p:nvSpPr>
        <p:spPr>
          <a:xfrm>
            <a:off x="997305" y="5716872"/>
            <a:ext cx="10197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每增加一个共栅管，从其漏极看进去的输出阻抗可以放大</a:t>
            </a:r>
            <a:r>
              <a:rPr lang="en-US" altLang="zh-CN" sz="2800" b="1" dirty="0" err="1"/>
              <a:t>g</a:t>
            </a:r>
            <a:r>
              <a:rPr lang="en-US" altLang="zh-CN" sz="2800" b="1" baseline="-25000" dirty="0" err="1"/>
              <a:t>m</a:t>
            </a:r>
            <a:r>
              <a:rPr lang="en-US" altLang="zh-CN" sz="2800" b="1" dirty="0" err="1"/>
              <a:t>r</a:t>
            </a:r>
            <a:r>
              <a:rPr lang="en-US" altLang="zh-CN" sz="2800" b="1" baseline="-25000" dirty="0" err="1"/>
              <a:t>o</a:t>
            </a:r>
            <a:r>
              <a:rPr lang="zh-CN" altLang="en-US" sz="2800" b="1" dirty="0"/>
              <a:t>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FB2DBB-9028-996F-45EE-820753CAB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72" y="700333"/>
            <a:ext cx="3387117" cy="31055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B4CB58F-4679-0369-75ED-8E3F78954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154" y="617907"/>
            <a:ext cx="3077904" cy="340736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8783016-3E14-BD26-4933-D57FC7DED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996" y="632540"/>
            <a:ext cx="2055191" cy="370466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174D9ED-19A7-BCAD-8284-D73847B7B1B2}"/>
              </a:ext>
            </a:extLst>
          </p:cNvPr>
          <p:cNvSpPr txBox="1"/>
          <p:nvPr/>
        </p:nvSpPr>
        <p:spPr>
          <a:xfrm>
            <a:off x="1188721" y="4932041"/>
            <a:ext cx="2461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Rout=ro2</a:t>
            </a:r>
            <a:endParaRPr lang="zh-CN" altLang="en-US" sz="24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49B337-B89B-6691-8B84-E81B8B30CA9B}"/>
              </a:ext>
            </a:extLst>
          </p:cNvPr>
          <p:cNvSpPr txBox="1"/>
          <p:nvPr/>
        </p:nvSpPr>
        <p:spPr>
          <a:xfrm>
            <a:off x="7776058" y="4978208"/>
            <a:ext cx="4150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/>
            </a:lvl1pPr>
          </a:lstStyle>
          <a:p>
            <a:r>
              <a:rPr lang="en-US" altLang="zh-CN" dirty="0"/>
              <a:t>Rout=gm6gm4ro2ro4ro6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EB8778-A064-58A2-416D-2E6366F75E1A}"/>
              </a:ext>
            </a:extLst>
          </p:cNvPr>
          <p:cNvSpPr txBox="1"/>
          <p:nvPr/>
        </p:nvSpPr>
        <p:spPr>
          <a:xfrm>
            <a:off x="4372053" y="4978208"/>
            <a:ext cx="3077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/>
            </a:lvl1pPr>
          </a:lstStyle>
          <a:p>
            <a:r>
              <a:rPr lang="en-US" altLang="zh-CN" dirty="0"/>
              <a:t>Rout=gm3ro3ro2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27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3975034-016D-FC70-57FF-1E9841F1E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949" y="299923"/>
            <a:ext cx="5805942" cy="405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C392AA-ED58-627F-F42C-BBB976146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45" y="205057"/>
            <a:ext cx="3936060" cy="37664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3C9CE1-7AE5-99EB-BA2D-92A0EA432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47" y="5633840"/>
            <a:ext cx="2370111" cy="7110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0ABE8EF-95CC-4977-39F5-F7C802602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9456" y="5421401"/>
            <a:ext cx="2856730" cy="9998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4FC9EB8-981D-9279-0D73-3AF56A034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0138" y="5421401"/>
            <a:ext cx="2989305" cy="68607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D9F68EF-1CC4-7836-075C-5B89217DE64A}"/>
              </a:ext>
            </a:extLst>
          </p:cNvPr>
          <p:cNvSpPr txBox="1"/>
          <p:nvPr/>
        </p:nvSpPr>
        <p:spPr>
          <a:xfrm>
            <a:off x="7446874" y="5620025"/>
            <a:ext cx="1602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串联有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931442-3AA3-DD9C-D75B-F33A3DE21CAE}"/>
              </a:ext>
            </a:extLst>
          </p:cNvPr>
          <p:cNvSpPr txBox="1"/>
          <p:nvPr/>
        </p:nvSpPr>
        <p:spPr>
          <a:xfrm>
            <a:off x="7022591" y="6187981"/>
            <a:ext cx="1602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背栅极连接有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11D308C-9C75-FF43-C6F6-FC0B167948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2715" y="6161522"/>
            <a:ext cx="1924149" cy="66678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DFF67A0-50A2-17A0-561F-E746BDC1E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376" y="4369690"/>
            <a:ext cx="4044153" cy="83594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A733084-6C38-EEC3-DE2D-B2791A44B7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285" y="4369690"/>
            <a:ext cx="4619340" cy="6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FDBE99-BE0D-6EA9-C4D3-A756198D9097}"/>
              </a:ext>
            </a:extLst>
          </p:cNvPr>
          <p:cNvSpPr txBox="1"/>
          <p:nvPr/>
        </p:nvSpPr>
        <p:spPr>
          <a:xfrm>
            <a:off x="1170432" y="945414"/>
            <a:ext cx="48743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工艺流程：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wafer</a:t>
            </a:r>
            <a:r>
              <a:rPr lang="zh-CN" altLang="en-US" dirty="0"/>
              <a:t>氧化，光刻，扩散，离子注入，淀积，刻蚀，平坦化等等的英文以及在做什么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FinFet</a:t>
            </a:r>
            <a:r>
              <a:rPr lang="zh-CN" altLang="en-US" dirty="0"/>
              <a:t>沟道宽度怎么计算的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版图怎么画</a:t>
            </a:r>
            <a:r>
              <a:rPr lang="zh-CN" altLang="en-US" dirty="0">
                <a:hlinkClick r:id="rId2"/>
              </a:rPr>
              <a:t>简单的</a:t>
            </a:r>
            <a:r>
              <a:rPr lang="en-US" altLang="zh-CN" dirty="0">
                <a:hlinkClick r:id="rId2"/>
              </a:rPr>
              <a:t>CMOS</a:t>
            </a:r>
            <a:r>
              <a:rPr lang="zh-CN" altLang="en-US" dirty="0">
                <a:hlinkClick r:id="rId2"/>
              </a:rPr>
              <a:t>版图识别 </a:t>
            </a:r>
            <a:r>
              <a:rPr lang="en-US" altLang="zh-CN" dirty="0">
                <a:hlinkClick r:id="rId2"/>
              </a:rPr>
              <a:t>- </a:t>
            </a:r>
            <a:r>
              <a:rPr lang="zh-CN" altLang="en-US" dirty="0">
                <a:hlinkClick r:id="rId2"/>
              </a:rPr>
              <a:t>知乎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zh-CN" altLang="en-US" dirty="0"/>
              <a:t>器件模型：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Saturation</a:t>
            </a:r>
            <a:r>
              <a:rPr lang="zh-CN" altLang="en-US" dirty="0"/>
              <a:t>和</a:t>
            </a:r>
            <a:r>
              <a:rPr lang="en-US" altLang="zh-CN" dirty="0"/>
              <a:t>triode</a:t>
            </a:r>
            <a:r>
              <a:rPr lang="zh-CN" altLang="en-US" dirty="0"/>
              <a:t>区的电流表达式（熟记）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二级效应的影响及表达式：体效应，沟道调制，亚阈值导电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小信号电路会分析（结合电基）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zh-CN" altLang="en-US" dirty="0"/>
              <a:t>模拟基本单元：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Mos switch</a:t>
            </a:r>
            <a:r>
              <a:rPr lang="zh-CN" altLang="en-US" dirty="0"/>
              <a:t>工作在</a:t>
            </a:r>
            <a:r>
              <a:rPr lang="en-US" altLang="zh-CN" dirty="0"/>
              <a:t>triode</a:t>
            </a:r>
            <a:r>
              <a:rPr lang="zh-CN" altLang="en-US" dirty="0"/>
              <a:t>区，</a:t>
            </a:r>
            <a:r>
              <a:rPr lang="en-US" altLang="zh-CN" dirty="0" err="1"/>
              <a:t>ron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Mos diode</a:t>
            </a:r>
            <a:r>
              <a:rPr lang="zh-CN" altLang="en-US" dirty="0"/>
              <a:t>工作在饱和区，</a:t>
            </a:r>
            <a:r>
              <a:rPr lang="en-US" altLang="zh-CN" dirty="0"/>
              <a:t>rout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电流源，电流镜知道</a:t>
            </a:r>
            <a:r>
              <a:rPr lang="en-US" altLang="zh-CN" dirty="0" err="1"/>
              <a:t>cascode</a:t>
            </a:r>
            <a:r>
              <a:rPr lang="zh-CN" altLang="en-US" dirty="0"/>
              <a:t>怎么计算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47B360-A912-C4C9-27BA-6B407090D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481" y="707944"/>
            <a:ext cx="4483330" cy="21210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81BB4D-D813-9771-92EB-FBD146799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47" y="2940094"/>
            <a:ext cx="5464427" cy="10889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795BF0C-910E-3691-4074-107BCC99F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841" y="5036750"/>
            <a:ext cx="3680253" cy="7237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17F948D-310D-EC8D-3627-B9884358A5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4408" y="5760534"/>
            <a:ext cx="3317129" cy="8030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38D5199-3D73-8BA7-EBC1-06CB57CC50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772" y="4318096"/>
            <a:ext cx="3886400" cy="76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11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169</Words>
  <Application>Microsoft Office PowerPoint</Application>
  <PresentationFormat>宽屏</PresentationFormat>
  <Paragraphs>23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之初 任</dc:creator>
  <cp:lastModifiedBy>之初 任</cp:lastModifiedBy>
  <cp:revision>3</cp:revision>
  <dcterms:created xsi:type="dcterms:W3CDTF">2025-10-31T12:46:17Z</dcterms:created>
  <dcterms:modified xsi:type="dcterms:W3CDTF">2025-11-01T07:37:35Z</dcterms:modified>
</cp:coreProperties>
</file>